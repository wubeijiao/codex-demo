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Noninvasive modulation of the hippocampal–entorhinal complex during spatial navigation in humans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0" b="0">
                <a:solidFill>
                  <a:srgbClr val="BCCFE2"/>
                </a:solidFill>
                <a:latin typeface="Microsoft YaHei"/>
              </a:defRPr>
            </a:pPr>
            <a:r>
              <a:t>Beanato et al. · Science Advances ·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492240" cy="1188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800" b="1">
                <a:solidFill>
                  <a:srgbClr val="142B4B"/>
                </a:solidFill>
                <a:latin typeface="Microsoft YaHei"/>
              </a:defRPr>
            </a:pPr>
            <a:r>
              <a:t>用经颅时间干扰刺激（tTIS）</a:t>
            </a:r>
            <a:br/>
            <a:r>
              <a:t>因果性调节深部 HC–EC，并观察空间导航变化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5669280" cy="1280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700" b="0">
                <a:solidFill>
                  <a:srgbClr val="263444"/>
                </a:solidFill>
                <a:latin typeface="Microsoft YaHei"/>
              </a:defRPr>
            </a:pPr>
            <a:r>
              <a:t>核心结论</a:t>
            </a:r>
            <a:br/>
            <a:r>
              <a:t>iTBS-tTIS 提升空间导航中的记忆提取效率；同时调节海马活动，并降低内嗅皮层的网格细胞样活动（GCLR）。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417320"/>
            <a:ext cx="3931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1417320"/>
            <a:ext cx="91440" cy="1325880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9831" y="1581912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研究对象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9831" y="1984248"/>
            <a:ext cx="3474720" cy="6126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健康志愿者；右侧 HC–EC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971800"/>
            <a:ext cx="3931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2971800"/>
            <a:ext cx="91440" cy="1325880"/>
          </a:xfrm>
          <a:prstGeom prst="rect">
            <a:avLst/>
          </a:prstGeom>
          <a:solidFill>
            <a:srgbClr val="2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1" y="3136392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任务与测量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3538728"/>
            <a:ext cx="3474720" cy="6126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MRI 内沉浸式 VR 导航 + BOLD/fMRI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526280"/>
            <a:ext cx="3931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4526280"/>
            <a:ext cx="91440" cy="132588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9831" y="4690872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5093208"/>
            <a:ext cx="3474720" cy="6126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随机、双盲；iTBS / cTBS /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1. 为什么要研究 HC–EC？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0" b="0">
                <a:solidFill>
                  <a:srgbClr val="BCCFE2"/>
                </a:solidFill>
                <a:latin typeface="Microsoft YaHei"/>
              </a:defRPr>
            </a:pPr>
            <a:r>
              <a:t>研究背景与问题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91440" cy="4389120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399032"/>
            <a:ext cx="29260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理论背景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01368"/>
            <a:ext cx="2926080" cy="36758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海马与内嗅皮层支持空间记忆和导航。</a:t>
            </a:r>
            <a:br/>
            <a:br/>
            <a:r>
              <a:t>网格细胞样表征（GCLR）呈六重方向对称，被视为人类内嗅皮层空间编码的非侵入性指标。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23444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234440"/>
            <a:ext cx="91440" cy="4389120"/>
          </a:xfrm>
          <a:prstGeom prst="rect">
            <a:avLst/>
          </a:prstGeom>
          <a:solidFill>
            <a:srgbClr val="2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399032"/>
            <a:ext cx="29260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关键瓶颈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01368"/>
            <a:ext cx="2926080" cy="36758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传统 TMS / tES 难以在不强烈刺激浅层皮层的情况下，聚焦调节深部 MTL。</a:t>
            </a:r>
            <a:br/>
            <a:br/>
            <a:r>
              <a:t>因此，HC–EC 对人类空间行为的因果作用仍不清楚。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91440" cy="438912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399032"/>
            <a:ext cx="29260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本文问题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1801368"/>
            <a:ext cx="2926080" cy="36758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tTIS 能否选择性调节右侧 HC–EC？</a:t>
            </a:r>
            <a:br/>
            <a:br/>
            <a:r>
              <a:t>iTBS 与 cTBS 是否产生不同的行为和神经表征效应？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2. 实验设计：在 MRI 中完成真实感 VR 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0" b="0">
                <a:solidFill>
                  <a:srgbClr val="BCCFE2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33172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057400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700" b="1">
                <a:solidFill>
                  <a:srgbClr val="2A6EB4"/>
                </a:solidFill>
                <a:latin typeface="Microsoft YaHei"/>
              </a:defRPr>
            </a:pPr>
            <a:r>
              <a:t>刺激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606040"/>
            <a:ext cx="2011680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0">
                <a:solidFill>
                  <a:srgbClr val="263444"/>
                </a:solidFill>
                <a:latin typeface="Microsoft YaHei"/>
              </a:defRPr>
            </a:pPr>
            <a:r>
              <a:t>右侧 HC–EC</a:t>
            </a:r>
            <a:br/>
            <a:r>
              <a:t>iTBS / cTBS /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2487168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400" b="1">
                <a:solidFill>
                  <a:srgbClr val="5F70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1828800"/>
            <a:ext cx="233172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057400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700" b="1">
                <a:solidFill>
                  <a:srgbClr val="249691"/>
                </a:solidFill>
                <a:latin typeface="Microsoft YaHei"/>
              </a:defRPr>
            </a:pPr>
            <a:r>
              <a:t>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06040"/>
            <a:ext cx="2011680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0">
                <a:solidFill>
                  <a:srgbClr val="263444"/>
                </a:solidFill>
                <a:latin typeface="Microsoft YaHei"/>
              </a:defRPr>
            </a:pPr>
            <a:r>
              <a:t>2.5 min 编码</a:t>
            </a:r>
            <a:br/>
            <a:r>
              <a:t>记住 3 个物体位置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6" y="2487168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400" b="1">
                <a:solidFill>
                  <a:srgbClr val="5F70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1656" y="1828800"/>
            <a:ext cx="233172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057400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700" b="1">
                <a:solidFill>
                  <a:srgbClr val="E5A93C"/>
                </a:solidFill>
                <a:latin typeface="Microsoft YaHei"/>
              </a:defRPr>
            </a:pPr>
            <a:r>
              <a:t>检索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606040"/>
            <a:ext cx="2011680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0">
                <a:solidFill>
                  <a:srgbClr val="263444"/>
                </a:solidFill>
                <a:latin typeface="Microsoft YaHei"/>
              </a:defRPr>
            </a:pPr>
            <a:r>
              <a:t>线索出现后</a:t>
            </a:r>
            <a:br/>
            <a:r>
              <a:t>导航至记忆位置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384" y="2487168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400" b="1">
                <a:solidFill>
                  <a:srgbClr val="5F70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44584" y="1828800"/>
            <a:ext cx="233172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2057400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700" b="1">
                <a:solidFill>
                  <a:srgbClr val="142B4B"/>
                </a:solidFill>
                <a:latin typeface="Microsoft YaHei"/>
              </a:defRPr>
            </a:pPr>
            <a:r>
              <a:t>测量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606040"/>
            <a:ext cx="2011680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0">
                <a:solidFill>
                  <a:srgbClr val="263444"/>
                </a:solidFill>
                <a:latin typeface="Microsoft YaHei"/>
              </a:defRPr>
            </a:pPr>
            <a:r>
              <a:t>行为 + BOLD</a:t>
            </a:r>
            <a:br/>
            <a:r>
              <a:t>六重 GCLR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09160"/>
            <a:ext cx="1042416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600" b="0">
                <a:solidFill>
                  <a:srgbClr val="5F7082"/>
                </a:solidFill>
                <a:latin typeface="Microsoft YaHei"/>
              </a:defRPr>
            </a:pPr>
            <a:r>
              <a:t>样本量：N = 30（行为分析）；GCLR 分析 n = 28。每位参与者经历三种条件，每种两次。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3. 主要结果：iTBS 让人更快开始导航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0" b="0">
                <a:solidFill>
                  <a:srgbClr val="BCCFE2"/>
                </a:solidFill>
                <a:latin typeface="Microsoft YaHei"/>
              </a:defRPr>
            </a:pPr>
            <a:r>
              <a:t>行为结果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91440" cy="1874519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399032"/>
            <a:ext cx="4846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检索时间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01368"/>
            <a:ext cx="4846320" cy="11612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iTBS &lt; cTBS</a:t>
            </a:r>
            <a:br/>
            <a:r>
              <a:t>整体 trial time 显著受刺激条件影响（P = 0.045）。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42900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429000"/>
            <a:ext cx="91440" cy="1874519"/>
          </a:xfrm>
          <a:prstGeom prst="rect">
            <a:avLst/>
          </a:prstGeom>
          <a:solidFill>
            <a:srgbClr val="2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593592"/>
            <a:ext cx="4846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离开时间（departure time）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995928"/>
            <a:ext cx="4846320" cy="11612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iTBS 比 cTBS 更短（P &lt; 0.001），也比 control 更短（P = 0.04）。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91440" cy="1874519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399032"/>
            <a:ext cx="4846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导航距离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1801368"/>
            <a:ext cx="4846320" cy="11612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三种条件无显著差异（P = 0.65），说明不是走了更短路径。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42900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429000"/>
            <a:ext cx="91440" cy="1874519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3593592"/>
            <a:ext cx="4846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解释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995928"/>
            <a:ext cx="4846320" cy="11612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iTBS 主要加快了对物体位置的记忆提取，而非引起冲动、唤醒或运动速度变化。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4. 神经结果：行为改善伴随 HC–EC 表征改变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0" b="0">
                <a:solidFill>
                  <a:srgbClr val="BCCFE2"/>
                </a:solidFill>
                <a:latin typeface="Microsoft YaHei"/>
              </a:defRPr>
            </a:pPr>
            <a:r>
              <a:t>fMRI 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91440" cy="4114800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444751"/>
            <a:ext cx="4846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海马活动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4846320" cy="3401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iTBS 相比 cTBS 改变右侧海马 Cue + Retrieval 阶段的 BOLD 活动；该变化与 departure time 的缩短相关。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91440" cy="4114800"/>
          </a:xfrm>
          <a:prstGeom prst="rect">
            <a:avLst/>
          </a:prstGeom>
          <a:solidFill>
            <a:srgbClr val="2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444751"/>
            <a:ext cx="4846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网格细胞样活动（GCLR）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47088"/>
            <a:ext cx="4846320" cy="3401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control 条件下 GCLR 显著高于 0。</a:t>
            </a:r>
            <a:br/>
            <a:br/>
            <a:r>
              <a:t>iTBS 与 cTBS 均降低 GCLR；iTBS 低于 cTBS（P = 0.03）。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700" b="1">
                <a:solidFill>
                  <a:srgbClr val="142B4B"/>
                </a:solidFill>
                <a:latin typeface="Microsoft YaHei"/>
              </a:defRPr>
            </a:pPr>
            <a:r>
              <a:t>行为变化 + 海马活动变化 + GCLR 变化，共同支持 HC–EC 被有效调节。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55448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5. 评价：从“能调节”走向“如何调节”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36576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0" b="0">
                <a:solidFill>
                  <a:srgbClr val="BCCFE2"/>
                </a:solidFill>
                <a:latin typeface="Microsoft YaHei"/>
              </a:defRPr>
            </a:pPr>
            <a:r>
              <a:t>批判性解读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91440" cy="4434840"/>
          </a:xfrm>
          <a:prstGeom prst="rect">
            <a:avLst/>
          </a:prstGeom>
          <a:solidFill>
            <a:srgbClr val="2A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399032"/>
            <a:ext cx="29718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贡献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01368"/>
            <a:ext cx="2971800" cy="37216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• 首次在健康人中以 tTIS 非侵入性调节深部 HC–EC</a:t>
            </a:r>
            <a:br/>
            <a:r>
              <a:t>• 将因果刺激、VR 导航与 fMRI/GCLR 结合</a:t>
            </a:r>
            <a:br/>
            <a:r>
              <a:t>• 支持 HC–EC 参与空间记忆提取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91440" cy="443484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399032"/>
            <a:ext cx="29718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局限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801368"/>
            <a:ext cx="2971800" cy="37216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• 样本为健康成年人，临床外推有限</a:t>
            </a:r>
            <a:br/>
            <a:r>
              <a:t>• GCLR 是间接指标，不等同于单细胞记录</a:t>
            </a:r>
            <a:br/>
            <a:r>
              <a:t>• 效应量偏小，长期效果与剂量关系未明确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91440" cy="4434840"/>
          </a:xfrm>
          <a:prstGeom prst="rect">
            <a:avLst/>
          </a:prstGeom>
          <a:solidFill>
            <a:srgbClr val="2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399032"/>
            <a:ext cx="29718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400" b="1">
                <a:solidFill>
                  <a:srgbClr val="263444"/>
                </a:solidFill>
                <a:latin typeface="Microsoft YaHei"/>
              </a:defRPr>
            </a:pPr>
            <a:r>
              <a:t>启示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1801368"/>
            <a:ext cx="2971800" cy="37216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0" b="0">
                <a:solidFill>
                  <a:srgbClr val="5F7082"/>
                </a:solidFill>
                <a:latin typeface="Microsoft YaHei"/>
              </a:defRPr>
            </a:pPr>
            <a:r>
              <a:t>• iTBS 可能比 cTBS 更适合促进导航记忆</a:t>
            </a:r>
            <a:br/>
            <a:r>
              <a:t>• 可进一步测试老年人、MCI/痴呆与脑损伤人群</a:t>
            </a:r>
            <a:br/>
            <a:r>
              <a:t>• 需要更大样本和长期随访验证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6070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1">
                <a:solidFill>
                  <a:srgbClr val="142B4B"/>
                </a:solidFill>
                <a:latin typeface="Microsoft YaHei"/>
              </a:defRPr>
            </a:pPr>
            <a:r>
              <a:t>一句话 takeaway：非侵入性深部刺激不仅能“碰到”HC–EC，还能改变空间记忆行为；但临床应用仍需验证。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